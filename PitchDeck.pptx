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E2E2E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E2E2E"/>
                </a:solidFill>
                <a:latin typeface="Arial"/>
              </a:rPr>
              <a:t>Post-Profitability Profit Split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Profit 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5F2D"/>
              </a:solidFill>
              <a:effectLst/>
            </c:spPr>
          </c:dPt>
          <c:dPt>
            <c:idx val="1"/>
            <c:bubble3D val="0"/>
            <c:spPr>
              <a:solidFill>
                <a:srgbClr val="97BC62"/>
              </a:solidFill>
              <a:effectLst/>
            </c:spPr>
          </c:dPt>
          <c:dPt>
            <c:idx val="2"/>
            <c:bubble3D val="0"/>
            <c:spPr>
              <a:solidFill>
                <a:srgbClr val="D4843E"/>
              </a:solidFill>
              <a:effectLst/>
            </c:spPr>
          </c:dPt>
          <c:dPt>
            <c:idx val="3"/>
            <c:bubble3D val="0"/>
            <c:spPr>
              <a:solidFill>
                <a:srgbClr val="88888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Employee Pool</c:v>
                </c:pt>
                <c:pt idx="1">
                  <c:v>Local Development</c:v>
                </c:pt>
                <c:pt idx="2">
                  <c:v>Local Replication</c:v>
                </c:pt>
                <c:pt idx="3">
                  <c:v>Modern Druid Central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50</c:v>
                </c:pt>
                <c:pt idx="1">
                  <c:v>30</c:v>
                </c:pt>
                <c:pt idx="2">
                  <c:v>10</c:v>
                </c:pt>
                <c:pt idx="3">
                  <c:v>10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2EFE5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D9CEB2"/>
                </a:solidFill>
                <a:latin typeface="Arial"/>
              </a:defRPr>
            </a:pPr>
            <a:r>
              <a:rPr sz="1000" b="0" i="0" u="none" strike="noStrike">
                <a:solidFill>
                  <a:srgbClr val="D9CEB2"/>
                </a:solidFill>
                <a:latin typeface="Arial"/>
              </a:rPr>
              <a:t>Hubs by Generation (Illustrative — rate set by build speed)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Hubs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Gen 1</c:v>
                  </c:pt>
                  <c:pt idx="1">
                    <c:v>Gen 2</c:v>
                  </c:pt>
                  <c:pt idx="2">
                    <c:v>Gen 3</c:v>
                  </c:pt>
                  <c:pt idx="3">
                    <c:v>Gen 4</c:v>
                  </c:pt>
                  <c:pt idx="4">
                    <c:v>Gen 5</c:v>
                  </c:pt>
                  <c:pt idx="5">
                    <c:v>Gen 6</c:v>
                  </c:pt>
                  <c:pt idx="6">
                    <c:v>Gen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D9CEB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3A2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D9CEB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E2A1E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(CAD)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 (Mature)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120000</c:v>
                </c:pt>
                <c:pt idx="1">
                  <c:v>290000</c:v>
                </c:pt>
                <c:pt idx="2">
                  <c:v>490000</c:v>
                </c:pt>
                <c:pt idx="3">
                  <c:v>650000</c:v>
                </c:pt>
                <c:pt idx="4">
                  <c:v>860000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Costs (CAD)</c:v>
                </c:pt>
              </c:strCache>
            </c:strRef>
          </c:tx>
          <c:spPr>
            <a:solidFill>
              <a:srgbClr val="DDDDD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 (Mature)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480000</c:v>
                </c:pt>
                <c:pt idx="1">
                  <c:v>560000</c:v>
                </c:pt>
                <c:pt idx="2">
                  <c:v>600000</c:v>
                </c:pt>
                <c:pt idx="3">
                  <c:v>620000</c:v>
                </c:pt>
                <c:pt idx="4">
                  <c:v>630000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5029200" y="274320"/>
            <a:ext cx="3840480" cy="3840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229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BLUEPRINT FOR INTEGRATED CLIMATE REPAIR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65760" y="1188720"/>
            <a:ext cx="6858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Modern</a:t>
            </a:r>
            <a:endParaRPr lang="en-US" sz="5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Druid Project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365760" y="352044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i="1" dirty="0">
                <a:solidFill>
                  <a:srgbClr val="D9CE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Designed for the climate we're entering —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i="1" dirty="0">
                <a:solidFill>
                  <a:srgbClr val="D9CE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the one we lost.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74320" y="4690872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Removal  ·  Food Security  ·  Land Justice  ·  Exponential Scale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4114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Interlocking Crises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reinforce each other. Solving any one in isolation is doomed.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47472" y="1508760"/>
            <a:ext cx="1956816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" y="1508760"/>
            <a:ext cx="1956816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645920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20574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Carbon Crisis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2487168"/>
            <a:ext cx="17556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71% of all permafrost is actively thawing — measured at just 1.02°C. We're at 1.47°C and accelerating.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377440" y="1508760"/>
            <a:ext cx="1956816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377440" y="1508760"/>
            <a:ext cx="1956816" cy="64008"/>
          </a:xfrm>
          <a:prstGeom prst="rect">
            <a:avLst/>
          </a:prstGeom>
          <a:solidFill>
            <a:srgbClr val="D4843E"/>
          </a:solidFill>
          <a:ln w="12700">
            <a:solidFill>
              <a:srgbClr val="D4843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1645920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487168" y="20574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Food Crisis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2487168" y="2487168"/>
            <a:ext cx="17556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agriculture is a net carbon source, utterly fragile under 2–3°C of climate stress.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407408" y="1508760"/>
            <a:ext cx="1956816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407408" y="1508760"/>
            <a:ext cx="1956816" cy="6400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4568" y="1645920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517136" y="20574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Inequality Crisis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4517136" y="2487168"/>
            <a:ext cx="17556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Land, wealth, and ecological gains flow upward. Stewards of the land are systematically excluded from its value.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437376" y="1508760"/>
            <a:ext cx="1956816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437376" y="1508760"/>
            <a:ext cx="1956816" cy="64008"/>
          </a:xfrm>
          <a:prstGeom prst="rect">
            <a:avLst/>
          </a:prstGeom>
          <a:solidFill>
            <a:srgbClr val="5B4FCF"/>
          </a:solidFill>
          <a:ln w="12700">
            <a:solidFill>
              <a:srgbClr val="5B4FC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6" y="1645920"/>
            <a:ext cx="384048" cy="38404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547104" y="20574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Scale Crisis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547104" y="2487168"/>
            <a:ext cx="17556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Countless pilot projects. Zero credible self-financing pathways to gigatonne-scale impact.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347472" y="4005072"/>
            <a:ext cx="8449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 solution that cannot cross the Gigatonne Chasm is, in the end, a distraction."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tretch>
            <a:fillRect/>
          </a:stretch>
        </p:blipFill>
        <p:spPr>
          <a:xfrm>
            <a:off x="5943600" y="182880"/>
            <a:ext cx="2926080" cy="2926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5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CARBON EMERGENCY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65760" y="438912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Freezer is Thawing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320040" y="1280160"/>
            <a:ext cx="2743200" cy="1417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320040" y="129844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71%</a:t>
            </a:r>
            <a:endParaRPr lang="en-US" sz="6400" dirty="0"/>
          </a:p>
        </p:txBody>
      </p:sp>
      <p:sp>
        <p:nvSpPr>
          <p:cNvPr id="8" name="Text 5"/>
          <p:cNvSpPr/>
          <p:nvPr/>
        </p:nvSpPr>
        <p:spPr>
          <a:xfrm>
            <a:off x="320040" y="208483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permafrost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actively thawing at 1.02°C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73552" y="2880360"/>
            <a:ext cx="1389888" cy="1188720"/>
          </a:xfrm>
          <a:prstGeom prst="rect">
            <a:avLst/>
          </a:prstGeom>
          <a:solidFill>
            <a:srgbClr val="2A1A1A"/>
          </a:solidFill>
          <a:ln w="12700">
            <a:solidFill>
              <a:srgbClr val="3A2A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328416" y="2971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573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1.47°C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3328416" y="35021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warming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pre-industrial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745736" y="2880360"/>
            <a:ext cx="1389888" cy="1188720"/>
          </a:xfrm>
          <a:prstGeom prst="rect">
            <a:avLst/>
          </a:prstGeom>
          <a:solidFill>
            <a:srgbClr val="2A1A1A"/>
          </a:solidFill>
          <a:ln w="12700">
            <a:solidFill>
              <a:srgbClr val="3A2A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800600" y="2971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573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429 ppm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800600" y="35021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Atmospheric CO₂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(was 280 ppm)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17920" y="2880360"/>
            <a:ext cx="1389888" cy="1188720"/>
          </a:xfrm>
          <a:prstGeom prst="rect">
            <a:avLst/>
          </a:prstGeom>
          <a:solidFill>
            <a:srgbClr val="2A1A1A"/>
          </a:solidFill>
          <a:ln w="12700">
            <a:solidFill>
              <a:srgbClr val="3A2A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272784" y="2971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573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1,942 ppb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272784" y="35021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Atmospheric methane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(was 722 ppb)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690104" y="2880360"/>
            <a:ext cx="1389888" cy="1188720"/>
          </a:xfrm>
          <a:prstGeom prst="rect">
            <a:avLst/>
          </a:prstGeom>
          <a:solidFill>
            <a:srgbClr val="2A1A1A"/>
          </a:solidFill>
          <a:ln w="12700">
            <a:solidFill>
              <a:srgbClr val="3A2A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744968" y="2971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573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84×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7744968" y="35021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Methane warming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vs CO₂ (20yr)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320040" y="42062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Methane is 84× more potent than CO₂ over 20 years. The permafrost holds 2× humanity's total industrial carbon output. Hydrate deposits could hold 6× that — of methane.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384048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2E2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Integrated Engine —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2E2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Collection of Projects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0" y="137160"/>
            <a:ext cx="3474720" cy="484632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23560" y="320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Modern Druid Hypothesis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623560" y="86868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2E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Permanently remove atmospheric carbon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2E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abundant food for local communities — free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2E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degraded ecosystems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2E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dignified, well-paid careers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2E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to gigatonne-scale impact</a:t>
            </a:r>
            <a:endParaRPr lang="en-US" sz="12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6675120" y="3566160"/>
            <a:ext cx="1005840" cy="10058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581912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4672" y="153619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2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Carbon revenue funds everything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192024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3,660 t CO₂e removed per year per hub generates ~$724K CAD in credits alone.</a:t>
            </a:r>
            <a:endParaRPr lang="en-US" sz="11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2724912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04672" y="267919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2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Food is a public good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804672" y="306324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Pick-your-own abundance worth $1.5–2.5M retail per hub. Zero harvest cost.</a:t>
            </a:r>
            <a:endParaRPr lang="en-US" sz="11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3867912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04672" y="382219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2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Self-replicating by design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04672" y="420624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of profits seeds the next hub. 1 → 2 → 4 → 8. No further dependency on external capital once running.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REMOVAL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41148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Stacked, Permanent, Verifiable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29184" y="1097280"/>
            <a:ext cx="2889504" cy="4572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2336" y="11155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55264" y="1097280"/>
            <a:ext cx="2157984" cy="4572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28416" y="1115568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49824" y="1097280"/>
            <a:ext cx="1792224" cy="4572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22976" y="111556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Removal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(mature 100-ha hub)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278624" y="1097280"/>
            <a:ext cx="1792224" cy="4572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51776" y="111556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Role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9184" y="1554480"/>
            <a:ext cx="2889504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9184" y="1554480"/>
            <a:ext cx="64008" cy="676656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" y="1618488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🌿  Biochar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55264" y="1554480"/>
            <a:ext cx="2157984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46704" y="16184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Pyrolysis of on-site biomass → stable carbon (Puro.earth)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49824" y="1554480"/>
            <a:ext cx="1792224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41264" y="1618488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~1,760 t CO₂e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278624" y="1554480"/>
            <a:ext cx="1792224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70064" y="1618488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Revenue Driver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9184" y="2267712"/>
            <a:ext cx="2889504" cy="676656"/>
          </a:xfrm>
          <a:prstGeom prst="rect">
            <a:avLst/>
          </a:prstGeom>
          <a:solidFill>
            <a:srgbClr val="F7F7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" y="2267712"/>
            <a:ext cx="64008" cy="676656"/>
          </a:xfrm>
          <a:prstGeom prst="rect">
            <a:avLst/>
          </a:prstGeom>
          <a:solidFill>
            <a:srgbClr val="D4843E"/>
          </a:solidFill>
          <a:ln w="12700">
            <a:solidFill>
              <a:srgbClr val="D484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" y="2331720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🪨  Enhanced Rock Weathering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255264" y="2267712"/>
            <a:ext cx="2157984" cy="676656"/>
          </a:xfrm>
          <a:prstGeom prst="rect">
            <a:avLst/>
          </a:prstGeom>
          <a:solidFill>
            <a:srgbClr val="F7F7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46704" y="233172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Crushed basalt spread → mineral carbonation (Puro.earth)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49824" y="2267712"/>
            <a:ext cx="1792224" cy="676656"/>
          </a:xfrm>
          <a:prstGeom prst="rect">
            <a:avLst/>
          </a:prstGeom>
          <a:solidFill>
            <a:srgbClr val="F7F7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1264" y="2331720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~1,500 t CO₂e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278624" y="2267712"/>
            <a:ext cx="1792224" cy="676656"/>
          </a:xfrm>
          <a:prstGeom prst="rect">
            <a:avLst/>
          </a:prstGeom>
          <a:solidFill>
            <a:srgbClr val="F7F7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70064" y="2331720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Synergistic Multiplier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29184" y="2980944"/>
            <a:ext cx="2889504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" y="2980944"/>
            <a:ext cx="64008" cy="67665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776" y="3044952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Deep Soil Carbon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255264" y="2980944"/>
            <a:ext cx="2157984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46704" y="3044952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Syntropic agroforestry builds SOC to 3m depth (Verra + CCB)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49824" y="2980944"/>
            <a:ext cx="1792224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41264" y="3044952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 t CO₂e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278624" y="2980944"/>
            <a:ext cx="1792224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70064" y="3044952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Crediting (12+ SDGs)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29184" y="3694176"/>
            <a:ext cx="2889504" cy="676656"/>
          </a:xfrm>
          <a:prstGeom prst="rect">
            <a:avLst/>
          </a:prstGeom>
          <a:solidFill>
            <a:srgbClr val="E8F5E9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" y="3694176"/>
            <a:ext cx="64008" cy="676656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3776" y="3758184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3255264" y="3694176"/>
            <a:ext cx="2157984" cy="676656"/>
          </a:xfrm>
          <a:prstGeom prst="rect">
            <a:avLst/>
          </a:prstGeom>
          <a:solidFill>
            <a:srgbClr val="E8F5E9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46704" y="3758184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Stacked, permanent removal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49824" y="3694176"/>
            <a:ext cx="1792224" cy="676656"/>
          </a:xfrm>
          <a:prstGeom prst="rect">
            <a:avLst/>
          </a:prstGeom>
          <a:solidFill>
            <a:srgbClr val="E8F5E9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41264" y="3758184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~3,660 t CO₂e / yr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7278624" y="3694176"/>
            <a:ext cx="1792224" cy="676656"/>
          </a:xfrm>
          <a:prstGeom prst="rect">
            <a:avLst/>
          </a:prstGeom>
          <a:solidFill>
            <a:srgbClr val="E8F5E9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70064" y="3758184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~$724K CAD/yr (conservative)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329184" y="473659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at conservative 2025 carbon credit prices · Before biochar product sales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tretch>
            <a:fillRect/>
          </a:stretch>
        </p:blipFill>
        <p:spPr>
          <a:xfrm>
            <a:off x="5303520" y="365760"/>
            <a:ext cx="347472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AS PUBLIC GOOD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65760" y="530352"/>
            <a:ext cx="594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Feed the Community.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Fund the Mission.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365760" y="192024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fruit, nuts, berries, and perennial vegetables are free — pick-your-own — for the surrounding community.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9184" y="2788920"/>
            <a:ext cx="2743200" cy="1417320"/>
          </a:xfrm>
          <a:prstGeom prst="rect">
            <a:avLst/>
          </a:prstGeom>
          <a:solidFill>
            <a:srgbClr val="1E3A1E"/>
          </a:solidFill>
          <a:ln w="12700">
            <a:solidFill>
              <a:srgbClr val="2A5A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29184" y="2788920"/>
            <a:ext cx="2743200" cy="64008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38912" y="2880360"/>
            <a:ext cx="2523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$1.5–2.5M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438912" y="352044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food value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hub per year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00400" y="2788920"/>
            <a:ext cx="2743200" cy="1417320"/>
          </a:xfrm>
          <a:prstGeom prst="rect">
            <a:avLst/>
          </a:prstGeom>
          <a:solidFill>
            <a:srgbClr val="1E3A1E"/>
          </a:solidFill>
          <a:ln w="12700">
            <a:solidFill>
              <a:srgbClr val="2A5A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2788920"/>
            <a:ext cx="2743200" cy="64008"/>
          </a:xfrm>
          <a:prstGeom prst="rect">
            <a:avLst/>
          </a:prstGeom>
          <a:solidFill>
            <a:srgbClr val="D4843E"/>
          </a:solidFill>
          <a:ln w="12700">
            <a:solidFill>
              <a:srgbClr val="D4843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310128" y="2880360"/>
            <a:ext cx="2523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~40%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3310128" y="352044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farm operating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eliminated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071616" y="2788920"/>
            <a:ext cx="2743200" cy="1417320"/>
          </a:xfrm>
          <a:prstGeom prst="rect">
            <a:avLst/>
          </a:prstGeom>
          <a:solidFill>
            <a:srgbClr val="1E3A1E"/>
          </a:solidFill>
          <a:ln w="12700">
            <a:solidFill>
              <a:srgbClr val="2A5A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071616" y="2788920"/>
            <a:ext cx="2743200" cy="64008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81344" y="2880360"/>
            <a:ext cx="2523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 +$800K</a:t>
            </a:r>
            <a:endParaRPr lang="en-US" sz="3200" dirty="0"/>
          </a:p>
        </p:txBody>
      </p:sp>
      <p:sp>
        <p:nvSpPr>
          <p:cNvPr id="18" name="Text 15"/>
          <p:cNvSpPr/>
          <p:nvPr/>
        </p:nvSpPr>
        <p:spPr>
          <a:xfrm>
            <a:off x="6181344" y="352044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savings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credit cost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29184" y="4315968"/>
            <a:ext cx="8485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charity — it is strategic design. By eliminating the most expensive part of farming (harvest + transport + sales), we slash costs and build irreplaceable community support.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188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CONSTITUTIONAL GOVERNANCE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34747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Justice from Day One</a:t>
            </a:r>
            <a:endParaRPr lang="en-US" sz="2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120640" y="731520"/>
          <a:ext cx="37490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243584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11704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50% — Employee Pool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731520" y="151790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wages + bonuses. Strict 2:1 pay ratio (max to min). You work, you share.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2130552"/>
            <a:ext cx="292608" cy="2926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31520" y="20574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30% — Local Development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731520" y="24048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Operations, inputs, debt, and MRV. Any surplus buys more land.</a:t>
            </a:r>
            <a:endParaRPr lang="en-US" sz="11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3017520"/>
            <a:ext cx="292608" cy="29260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31520" y="294436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10% — Replication Fund</a:t>
            </a:r>
            <a:endParaRPr lang="en-US" sz="1300" dirty="0"/>
          </a:p>
        </p:txBody>
      </p:sp>
      <p:sp>
        <p:nvSpPr>
          <p:cNvPr id="14" name="Text 8"/>
          <p:cNvSpPr/>
          <p:nvPr/>
        </p:nvSpPr>
        <p:spPr>
          <a:xfrm>
            <a:off x="731520" y="3291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the next satellite hub — run by promoted stewards from this one.</a:t>
            </a:r>
            <a:endParaRPr lang="en-US" sz="11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" y="3904488"/>
            <a:ext cx="292608" cy="2926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731520" y="38313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10% — Modern Druid Central</a:t>
            </a:r>
            <a:endParaRPr lang="en-US" sz="1300" dirty="0"/>
          </a:p>
        </p:txBody>
      </p:sp>
      <p:sp>
        <p:nvSpPr>
          <p:cNvPr id="17" name="Text 10"/>
          <p:cNvSpPr/>
          <p:nvPr/>
        </p:nvSpPr>
        <p:spPr>
          <a:xfrm>
            <a:off x="731520" y="41788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R&amp;D, open-source toolkit, and seeding hubs in underserved regions globally.</a:t>
            </a:r>
            <a:endParaRPr lang="en-US" sz="1100" dirty="0"/>
          </a:p>
        </p:txBody>
      </p:sp>
      <p:sp>
        <p:nvSpPr>
          <p:cNvPr id="18" name="Text 11"/>
          <p:cNvSpPr/>
          <p:nvPr/>
        </p:nvSpPr>
        <p:spPr>
          <a:xfrm>
            <a:off x="347472" y="4617720"/>
            <a:ext cx="8449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20–25 years: land &amp; infrastructure transfer to worker-stewards pro-rata by tenure.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tretch>
            <a:fillRect/>
          </a:stretch>
        </p:blipFill>
        <p:spPr>
          <a:xfrm>
            <a:off x="6858000" y="914400"/>
            <a:ext cx="1828800" cy="1828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SCALE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6576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Hub Seeds the Next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365760" y="117043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expansion rate is determined by how fast each farm can be built — not by external fundraising.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20040" y="1828800"/>
          <a:ext cx="50292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5669280" y="1874520"/>
            <a:ext cx="3200400" cy="886968"/>
          </a:xfrm>
          <a:prstGeom prst="rect">
            <a:avLst/>
          </a:prstGeom>
          <a:solidFill>
            <a:srgbClr val="1E3A1E"/>
          </a:solidFill>
          <a:ln w="12700">
            <a:solidFill>
              <a:srgbClr val="2A5A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5815584" y="1929384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3,660 t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5815584" y="2313432"/>
            <a:ext cx="290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CO₂e removed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hub per year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5669280" y="2862072"/>
            <a:ext cx="3200400" cy="886968"/>
          </a:xfrm>
          <a:prstGeom prst="rect">
            <a:avLst/>
          </a:prstGeom>
          <a:solidFill>
            <a:srgbClr val="1E3A1E"/>
          </a:solidFill>
          <a:ln w="12700">
            <a:solidFill>
              <a:srgbClr val="2A5A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5815584" y="2916936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64 hubs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5815584" y="3300984"/>
            <a:ext cx="290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Gen 7 from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seed investment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669280" y="3849624"/>
            <a:ext cx="3200400" cy="886968"/>
          </a:xfrm>
          <a:prstGeom prst="rect">
            <a:avLst/>
          </a:prstGeom>
          <a:solidFill>
            <a:srgbClr val="1E3A1E"/>
          </a:solidFill>
          <a:ln w="12700">
            <a:solidFill>
              <a:srgbClr val="2A5A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5815584" y="3904488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~235K t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5815584" y="4288536"/>
            <a:ext cx="290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CO₂e/yr at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64-hub scale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320040" y="48463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generation doubles the network. The pace of each doubling is set by how fast the next farm goes from shovel-in-ground to operational — a constraint we control and improve over time.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— 100-HA HUB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41148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Profitable Model by Year 4</a:t>
            </a:r>
            <a:endParaRPr lang="en-US" sz="3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29184" y="109728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806440" y="1097280"/>
            <a:ext cx="1572768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806440" y="1097280"/>
            <a:ext cx="1572768" cy="6400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79592" y="1188720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~$724K/yr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879592" y="1609344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credits (mature)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488936" y="1097280"/>
            <a:ext cx="1572768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488936" y="1097280"/>
            <a:ext cx="1572768" cy="6400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562088" y="1188720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variable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562088" y="1609344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Biochar product sales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806440" y="2157984"/>
            <a:ext cx="1572768" cy="960120"/>
          </a:xfrm>
          <a:prstGeom prst="rect">
            <a:avLst/>
          </a:prstGeom>
          <a:solidFill>
            <a:srgbClr val="E8F5E9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806440" y="2157984"/>
            <a:ext cx="1572768" cy="6400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79592" y="2249424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$4M CAD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879592" y="2670048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investment needed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488936" y="2157984"/>
            <a:ext cx="1572768" cy="960120"/>
          </a:xfrm>
          <a:prstGeom prst="rect">
            <a:avLst/>
          </a:prstGeom>
          <a:solidFill>
            <a:srgbClr val="E8F5E9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488936" y="2157984"/>
            <a:ext cx="1572768" cy="6400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62088" y="2249424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Year 3–4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562088" y="2670048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 horizon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806440" y="3218688"/>
            <a:ext cx="1572768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806440" y="3218688"/>
            <a:ext cx="1572768" cy="6400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879592" y="3310128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&gt;30%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879592" y="3730752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 hub margin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7488936" y="3218688"/>
            <a:ext cx="1572768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7488936" y="3218688"/>
            <a:ext cx="1572768" cy="6400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562088" y="3310128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$1.5–2.5M/yr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562088" y="3730752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food benefit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329184" y="4434840"/>
            <a:ext cx="8485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are conservative. Biochar sales, grants, and ecosystem services add additional upside.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ASK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41148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$4,000,000 CAD Seed Investment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29184" y="1234440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9184" y="1234440"/>
            <a:ext cx="4206240" cy="82296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" y="1325880"/>
            <a:ext cx="38770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$3.4M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93776" y="1993392"/>
            <a:ext cx="3877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Hub #1 — Proof of Concept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93776" y="2450592"/>
            <a:ext cx="3877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100-hectare flagship hub through to profitability (Years 0–4). Land, infrastructure, operating costs, MRV, and carbon market onboarding.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3776" y="3063240"/>
            <a:ext cx="3877056" cy="155448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site build-out (CharHouse, kilns, irrigation)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Syntropic agroforestry installation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market registration (Puro.earth, Verra)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MRV baselining and ongoing monitoring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36592" y="1234440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36592" y="1234440"/>
            <a:ext cx="4206240" cy="82296"/>
          </a:xfrm>
          <a:prstGeom prst="rect">
            <a:avLst/>
          </a:prstGeom>
          <a:solidFill>
            <a:srgbClr val="D4843E"/>
          </a:solidFill>
          <a:ln w="12700">
            <a:solidFill>
              <a:srgbClr val="D484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01184" y="1325880"/>
            <a:ext cx="38770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484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$0.6M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4901184" y="1993392"/>
            <a:ext cx="3877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E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Druid Central — Launch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901184" y="2450592"/>
            <a:ext cx="3877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lean team (2–3 FTEs) to manage, document, and replicate.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01184" y="3063240"/>
            <a:ext cx="3877056" cy="155448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&amp; permitting (Hub #1)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Replication Toolkit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&amp; grant development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"Hub-in-a-Box" first partnership deal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9184" y="4818888"/>
            <a:ext cx="8485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as: Grant · Strategic Partner (turnkey + offtake) · Mission-Locked Equity · Hybrid / Non-Dilutive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5029200" y="274320"/>
            <a:ext cx="3931920" cy="3931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MODERN DRUID PROJECT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65760" y="438912"/>
            <a:ext cx="6217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Saving the world doesn't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have to be complicated —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just can't be exploitative.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365760" y="26060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us in building the first self-replicating carbon farm —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proof of concept for the world.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65760" y="3429000"/>
            <a:ext cx="4389120" cy="1143000"/>
          </a:xfrm>
          <a:prstGeom prst="rect">
            <a:avLst/>
          </a:prstGeom>
          <a:solidFill>
            <a:srgbClr val="2C5F2D"/>
          </a:solidFill>
          <a:ln w="12700">
            <a:solidFill>
              <a:srgbClr val="97BC6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48640" y="350215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Robert McCarthy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48640" y="3867912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Founder, Modern Druid Project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9C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robert.mccarthy.ca@member.mensa.org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74320" y="473659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 ·  B-Corp Governed  ·  Community Owned  ·  Designed to Replicate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Modern Druid Project</dc:title>
  <dc:subject>PptxGenJS Presentation</dc:subject>
  <dc:creator>Robert McCarthy</dc:creator>
  <cp:lastModifiedBy>Robert McCarthy</cp:lastModifiedBy>
  <cp:revision>1</cp:revision>
  <dcterms:created xsi:type="dcterms:W3CDTF">2026-04-01T00:54:42Z</dcterms:created>
  <dcterms:modified xsi:type="dcterms:W3CDTF">2026-04-01T00:54:42Z</dcterms:modified>
</cp:coreProperties>
</file>