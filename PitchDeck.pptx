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7471B1-BC5A-4401-BD28-D0E62F2A589C}" v="6" dt="2026-04-02T01:33:02.4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McCarthy" userId="60571c1a712aae69" providerId="Windows Live" clId="Web-{6F7471B1-BC5A-4401-BD28-D0E62F2A589C}"/>
    <pc:docChg chg="modSld">
      <pc:chgData name="Robert McCarthy" userId="60571c1a712aae69" providerId="Windows Live" clId="Web-{6F7471B1-BC5A-4401-BD28-D0E62F2A589C}" dt="2026-04-02T01:33:02.451" v="5" actId="20577"/>
      <pc:docMkLst>
        <pc:docMk/>
      </pc:docMkLst>
      <pc:sldChg chg="modSp">
        <pc:chgData name="Robert McCarthy" userId="60571c1a712aae69" providerId="Windows Live" clId="Web-{6F7471B1-BC5A-4401-BD28-D0E62F2A589C}" dt="2026-04-02T01:28:01.341" v="0" actId="20577"/>
        <pc:sldMkLst>
          <pc:docMk/>
          <pc:sldMk cId="0" sldId="258"/>
        </pc:sldMkLst>
        <pc:spChg chg="mod">
          <ac:chgData name="Robert McCarthy" userId="60571c1a712aae69" providerId="Windows Live" clId="Web-{6F7471B1-BC5A-4401-BD28-D0E62F2A589C}" dt="2026-04-02T01:28:01.341" v="0" actId="20577"/>
          <ac:spMkLst>
            <pc:docMk/>
            <pc:sldMk cId="0" sldId="258"/>
            <ac:spMk id="8" creationId="{00000000-0000-0000-0000-000000000000}"/>
          </ac:spMkLst>
        </pc:spChg>
      </pc:sldChg>
      <pc:sldChg chg="modSp">
        <pc:chgData name="Robert McCarthy" userId="60571c1a712aae69" providerId="Windows Live" clId="Web-{6F7471B1-BC5A-4401-BD28-D0E62F2A589C}" dt="2026-04-02T01:33:02.451" v="5" actId="20577"/>
        <pc:sldMkLst>
          <pc:docMk/>
          <pc:sldMk cId="0" sldId="266"/>
        </pc:sldMkLst>
        <pc:spChg chg="mod">
          <ac:chgData name="Robert McCarthy" userId="60571c1a712aae69" providerId="Windows Live" clId="Web-{6F7471B1-BC5A-4401-BD28-D0E62F2A589C}" dt="2026-04-02T01:33:02.451" v="5" actId="20577"/>
          <ac:spMkLst>
            <pc:docMk/>
            <pc:sldMk cId="0" sldId="266"/>
            <ac:spMk id="1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E2E2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E2E2E"/>
                </a:solidFill>
                <a:latin typeface="Arial"/>
              </a:rPr>
              <a:t>Post-Profitability Profit Split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 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3E8-407A-AFAD-6184D2B53957}"/>
              </c:ext>
            </c:extLst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E8-407A-AFAD-6184D2B53957}"/>
              </c:ext>
            </c:extLst>
          </c:dPt>
          <c:dPt>
            <c:idx val="2"/>
            <c:bubble3D val="0"/>
            <c:spPr>
              <a:solidFill>
                <a:srgbClr val="D484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3E8-407A-AFAD-6184D2B53957}"/>
              </c:ext>
            </c:extLst>
          </c:dPt>
          <c:dPt>
            <c:idx val="3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3E8-407A-AFAD-6184D2B5395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3E8-407A-AFAD-6184D2B5395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3E8-407A-AFAD-6184D2B5395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3E8-407A-AFAD-6184D2B5395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3E8-407A-AFAD-6184D2B5395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Employee Pool</c:v>
                </c:pt>
                <c:pt idx="1">
                  <c:v>Local Development</c:v>
                </c:pt>
                <c:pt idx="2">
                  <c:v>Local Replication</c:v>
                </c:pt>
                <c:pt idx="3">
                  <c:v>Modern Druid Central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30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3E8-407A-AFAD-6184D2B53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2EFE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D9CEB2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D9CEB2"/>
                </a:solidFill>
                <a:latin typeface="Arial"/>
              </a:rPr>
              <a:t>Hubs by Generation (Illustrative — rate set by build speed)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Hubs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Gen 1</c:v>
                </c:pt>
                <c:pt idx="1">
                  <c:v>Gen 2</c:v>
                </c:pt>
                <c:pt idx="2">
                  <c:v>Gen 3</c:v>
                </c:pt>
                <c:pt idx="3">
                  <c:v>Gen 4</c:v>
                </c:pt>
                <c:pt idx="4">
                  <c:v>Gen 5</c:v>
                </c:pt>
                <c:pt idx="5">
                  <c:v>Gen 6</c:v>
                </c:pt>
                <c:pt idx="6">
                  <c:v>Gen 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4C-41FC-937D-4D4F5789DF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9CE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9CE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A1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(CAD)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  <c:pt idx="3">
                  <c:v>Yr 4</c:v>
                </c:pt>
                <c:pt idx="4">
                  <c:v>Yr 5 (Mature)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120000</c:v>
                </c:pt>
                <c:pt idx="1">
                  <c:v>290000</c:v>
                </c:pt>
                <c:pt idx="2">
                  <c:v>490000</c:v>
                </c:pt>
                <c:pt idx="3">
                  <c:v>650000</c:v>
                </c:pt>
                <c:pt idx="4">
                  <c:v>860000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4B-4B73-8C80-1CD39C2921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 (CAD)</c:v>
                </c:pt>
              </c:strCache>
            </c:strRef>
          </c:tx>
          <c:spPr>
            <a:solidFill>
              <a:srgbClr val="DDDDD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  <c:pt idx="3">
                  <c:v>Yr 4</c:v>
                </c:pt>
                <c:pt idx="4">
                  <c:v>Yr 5 (Mature)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480000</c:v>
                </c:pt>
                <c:pt idx="1">
                  <c:v>560000</c:v>
                </c:pt>
                <c:pt idx="2">
                  <c:v>600000</c:v>
                </c:pt>
                <c:pt idx="3">
                  <c:v>620000</c:v>
                </c:pt>
                <c:pt idx="4">
                  <c:v>630000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4B-4B73-8C80-1CD39C2921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D8B5F7-C751-460F-A4E8-A72DB48BA422}" type="datetimeFigureOut"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A99A5-A039-4C07-80CD-18E245AC0B3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42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5029200" y="274320"/>
            <a:ext cx="384048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FOR INTEGRATED CLIMATE REPAIR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Modern</a:t>
            </a:r>
            <a:endParaRPr lang="en-US" sz="5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Druid Project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365760" y="35204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D9CE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the climate we're entering —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D9CE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the one we lost.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69087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Removal  ·  Food Security  ·  Land Justice  ·  Exponential Scale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Interlocking Crises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reinforce each other. Solving any one in isolation is doomed.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1508760"/>
            <a:ext cx="195681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508760"/>
            <a:ext cx="1956816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64592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0574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Carbon Crisis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487168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of all permafrost is actively thawing — measured at just 1.02°C. We're at 1.47°C and accelerating.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77440" y="1508760"/>
            <a:ext cx="195681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377440" y="1508760"/>
            <a:ext cx="1956816" cy="64008"/>
          </a:xfrm>
          <a:prstGeom prst="rect">
            <a:avLst/>
          </a:prstGeom>
          <a:solidFill>
            <a:srgbClr val="D4843E"/>
          </a:solidFill>
          <a:ln w="12700">
            <a:solidFill>
              <a:srgbClr val="D4843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64592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87168" y="20574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Food Crisis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487168" y="2487168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agriculture is a net carbon source, utterly fragile under 2–3°C of climate stress.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407408" y="1508760"/>
            <a:ext cx="195681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407408" y="1508760"/>
            <a:ext cx="1956816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164592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17136" y="20574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Inequality Crisis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17136" y="2487168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Land, wealth, and ecological gains flow upward. Stewards of the land are systematically excluded from its value.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37376" y="1508760"/>
            <a:ext cx="195681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37376" y="1508760"/>
            <a:ext cx="1956816" cy="6400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164592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47104" y="20574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Scale Crisis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547104" y="2487168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Countless pilot projects. Zero credible self-financing pathways to gigatonne-scale impact.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347472" y="4005072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solution that cannot cross the Gigatonne Chasm is, in the end, a distraction."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943600" y="182880"/>
            <a:ext cx="292608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CARBON EMERGENCY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65760" y="43891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Freezer is Thawing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320040" y="1280160"/>
            <a:ext cx="2743200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129844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320040" y="20848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D9CEB2"/>
                </a:solidFill>
                <a:latin typeface="Calibri"/>
                <a:ea typeface="Calibri"/>
                <a:cs typeface="Calibri"/>
              </a:rPr>
              <a:t>of all permafrost was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thawing at 1.02°C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73552" y="2880360"/>
            <a:ext cx="1389888" cy="1188720"/>
          </a:xfrm>
          <a:prstGeom prst="rect">
            <a:avLst/>
          </a:prstGeom>
          <a:solidFill>
            <a:srgbClr val="2A1A1A"/>
          </a:solidFill>
          <a:ln w="12700">
            <a:solidFill>
              <a:srgbClr val="3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28416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7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1.47°C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328416" y="35021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warming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pre-industrial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45736" y="2880360"/>
            <a:ext cx="1389888" cy="1188720"/>
          </a:xfrm>
          <a:prstGeom prst="rect">
            <a:avLst/>
          </a:prstGeom>
          <a:solidFill>
            <a:srgbClr val="2A1A1A"/>
          </a:solidFill>
          <a:ln w="12700">
            <a:solidFill>
              <a:srgbClr val="3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00600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7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429 ppm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800600" y="35021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CO₂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(was 280 ppm)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2880360"/>
            <a:ext cx="1389888" cy="1188720"/>
          </a:xfrm>
          <a:prstGeom prst="rect">
            <a:avLst/>
          </a:prstGeom>
          <a:solidFill>
            <a:srgbClr val="2A1A1A"/>
          </a:solidFill>
          <a:ln w="12700">
            <a:solidFill>
              <a:srgbClr val="3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72784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7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1,942 ppb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272784" y="35021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methane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(was 722 ppb)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690104" y="2880360"/>
            <a:ext cx="1389888" cy="1188720"/>
          </a:xfrm>
          <a:prstGeom prst="rect">
            <a:avLst/>
          </a:prstGeom>
          <a:solidFill>
            <a:srgbClr val="2A1A1A"/>
          </a:solidFill>
          <a:ln w="12700">
            <a:solidFill>
              <a:srgbClr val="3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744968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7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84×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744968" y="35021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Methane warming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vs CO₂ (20yr)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20040" y="42062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Methane is 84× more potent than CO₂ over 20 years. The permafrost holds 2× humanity's total industrial carbon output. Hydrate deposits could hold 6× that — of methane.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Integrated Engine —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Collection of Projects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"/>
            <a:ext cx="3474720" cy="4846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23560" y="320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Modern Druid Hypothesis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23560" y="86868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remove atmospheric carbon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abundant food for local communities — free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degraded ecosystems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dignified, well-paid careers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to gigatonne-scale impact</a:t>
            </a:r>
            <a:endParaRPr lang="en-US" sz="12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675120" y="3566160"/>
            <a:ext cx="1005840" cy="100584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58191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15361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 revenue funds everything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04672" y="19202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3,660 t CO₂e removed per year per hub generates ~$724K CAD in credits alone.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724912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672" y="26791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is a public good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04672" y="30632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Pick-your-own abundance worth $1.5–2.5M retail per hub. Zero harvest cost.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867912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4672" y="38221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Self-replicating by design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04672" y="42062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profits seeds the next hub. 1 → 2 → 4 → 8. No further dependency on external capital once running.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REMOVAL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Stacked, Permanent, Verifiable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9184" y="1097280"/>
            <a:ext cx="2889504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1155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55264" y="1097280"/>
            <a:ext cx="2157984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28416" y="111556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49824" y="1097280"/>
            <a:ext cx="1792224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22976" y="11155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Removal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(mature 100-ha hub)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78624" y="1097280"/>
            <a:ext cx="1792224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51776" y="11155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Role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" y="1554480"/>
            <a:ext cx="2889504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" y="1554480"/>
            <a:ext cx="64008" cy="67665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1618488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Biochar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55264" y="1554480"/>
            <a:ext cx="2157984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46704" y="16184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Pyrolysis of on-site biomass → stable carbon (Puro.earth)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49824" y="1554480"/>
            <a:ext cx="1792224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41264" y="161848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~1,760 t CO₂e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78624" y="1554480"/>
            <a:ext cx="1792224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70064" y="161848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 Driver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9184" y="2267712"/>
            <a:ext cx="2889504" cy="676656"/>
          </a:xfrm>
          <a:prstGeom prst="rect">
            <a:avLst/>
          </a:prstGeom>
          <a:solidFill>
            <a:srgbClr val="F7F7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" y="2267712"/>
            <a:ext cx="64008" cy="676656"/>
          </a:xfrm>
          <a:prstGeom prst="rect">
            <a:avLst/>
          </a:prstGeom>
          <a:solidFill>
            <a:srgbClr val="D4843E"/>
          </a:solidFill>
          <a:ln w="12700">
            <a:solidFill>
              <a:srgbClr val="D484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233172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🪨  Enhanced Rock Weathering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55264" y="2267712"/>
            <a:ext cx="2157984" cy="676656"/>
          </a:xfrm>
          <a:prstGeom prst="rect">
            <a:avLst/>
          </a:prstGeom>
          <a:solidFill>
            <a:srgbClr val="F7F7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46704" y="233172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Crushed basalt spread → mineral carbonation (Puro.earth)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49824" y="2267712"/>
            <a:ext cx="1792224" cy="676656"/>
          </a:xfrm>
          <a:prstGeom prst="rect">
            <a:avLst/>
          </a:prstGeom>
          <a:solidFill>
            <a:srgbClr val="F7F7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41264" y="23317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~1,500 t CO₂e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278624" y="2267712"/>
            <a:ext cx="1792224" cy="676656"/>
          </a:xfrm>
          <a:prstGeom prst="rect">
            <a:avLst/>
          </a:prstGeom>
          <a:solidFill>
            <a:srgbClr val="F7F7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70064" y="23317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Synergistic Multiplier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9184" y="2980944"/>
            <a:ext cx="2889504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" y="2980944"/>
            <a:ext cx="64008" cy="67665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" y="3044952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Deep Soil Carbon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255264" y="2980944"/>
            <a:ext cx="2157984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46704" y="3044952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Syntropic agroforestry builds SOC to 3m depth (Verra + CCB)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49824" y="2980944"/>
            <a:ext cx="1792224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41264" y="304495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t CO₂e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278624" y="2980944"/>
            <a:ext cx="1792224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70064" y="304495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Crediting (12+ SDGs)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29184" y="3694176"/>
            <a:ext cx="2889504" cy="676656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" y="3694176"/>
            <a:ext cx="64008" cy="67665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" y="3758184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255264" y="3694176"/>
            <a:ext cx="2157984" cy="676656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46704" y="3758184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Stacked, permanent removal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49824" y="3694176"/>
            <a:ext cx="1792224" cy="676656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41264" y="375818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~3,660 t CO₂e / yr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278624" y="3694176"/>
            <a:ext cx="1792224" cy="676656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70064" y="375818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~$724K CAD/yr (conservative)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29184" y="4736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conservative 2025 carbon credit prices · Before biochar product sales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303520" y="365760"/>
            <a:ext cx="347472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AS PUBLIC GOOD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65760" y="530352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 the Community.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 the Mission.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365760" y="19202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fruit, nuts, berries, and perennial vegetables are free — pick-your-own — for the surrounding community.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9184" y="2788920"/>
            <a:ext cx="2743200" cy="1417320"/>
          </a:xfrm>
          <a:prstGeom prst="rect">
            <a:avLst/>
          </a:prstGeom>
          <a:solidFill>
            <a:srgbClr val="1E3A1E"/>
          </a:solidFill>
          <a:ln w="12700">
            <a:solidFill>
              <a:srgbClr val="2A5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9184" y="2788920"/>
            <a:ext cx="2743200" cy="640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288036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$1.5–2.5M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38912" y="352044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food value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hub per year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2788920"/>
            <a:ext cx="2743200" cy="1417320"/>
          </a:xfrm>
          <a:prstGeom prst="rect">
            <a:avLst/>
          </a:prstGeom>
          <a:solidFill>
            <a:srgbClr val="1E3A1E"/>
          </a:solidFill>
          <a:ln w="12700">
            <a:solidFill>
              <a:srgbClr val="2A5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2788920"/>
            <a:ext cx="2743200" cy="64008"/>
          </a:xfrm>
          <a:prstGeom prst="rect">
            <a:avLst/>
          </a:prstGeom>
          <a:solidFill>
            <a:srgbClr val="D4843E"/>
          </a:solidFill>
          <a:ln w="12700">
            <a:solidFill>
              <a:srgbClr val="D484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10128" y="288036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~40%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3310128" y="352044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farm operating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eliminated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71616" y="2788920"/>
            <a:ext cx="2743200" cy="1417320"/>
          </a:xfrm>
          <a:prstGeom prst="rect">
            <a:avLst/>
          </a:prstGeom>
          <a:solidFill>
            <a:srgbClr val="1E3A1E"/>
          </a:solidFill>
          <a:ln w="12700">
            <a:solidFill>
              <a:srgbClr val="2A5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71616" y="2788920"/>
            <a:ext cx="2743200" cy="640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81344" y="288036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 +$800K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6181344" y="352044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savings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credit cost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29184" y="4315968"/>
            <a:ext cx="8485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charity — it is strategic design. By eliminating the most expensive part of farming (harvest + transport + sales), we slash costs and build irreplaceable community support.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GOVERNANCE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Justice from Day One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120640" y="731520"/>
          <a:ext cx="37490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243584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170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 — Employee Pool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31520" y="151790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wages + bonuses. Strict 2:1 pay ratio (max to min). You work, you share.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130552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520" y="2057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 — Local Development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31520" y="24048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inputs, debt, and MRV. Any surplus buys more land.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017520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1520" y="29443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 — Replication Fund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731520" y="3291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the next satellite hub — run by promoted stewards from this one.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3904488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1520" y="38313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 — Modern Druid Central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731520" y="41788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R&amp;D, open-source toolkit, and seeding hubs in underserved regions globally.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347472" y="4617720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20–25 years: land &amp; infrastructure transfer to worker-stewards pro-rata by tenure.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858000" y="91440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SCALE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6576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Hub Seeds the Next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65760" y="11704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expansion rate is determined by how fast each farm can be built — not by external fundraising.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828800"/>
          <a:ext cx="5029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669280" y="1874520"/>
            <a:ext cx="3200400" cy="886968"/>
          </a:xfrm>
          <a:prstGeom prst="rect">
            <a:avLst/>
          </a:prstGeom>
          <a:solidFill>
            <a:srgbClr val="1E3A1E"/>
          </a:solidFill>
          <a:ln w="12700">
            <a:solidFill>
              <a:srgbClr val="2A5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815584" y="1929384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3,660 t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5815584" y="2313432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CO₂e removed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hub per year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669280" y="2862072"/>
            <a:ext cx="3200400" cy="886968"/>
          </a:xfrm>
          <a:prstGeom prst="rect">
            <a:avLst/>
          </a:prstGeom>
          <a:solidFill>
            <a:srgbClr val="1E3A1E"/>
          </a:solidFill>
          <a:ln w="12700">
            <a:solidFill>
              <a:srgbClr val="2A5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815584" y="2916936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 hubs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5815584" y="3300984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Gen 7 from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seed investment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669280" y="3849624"/>
            <a:ext cx="3200400" cy="886968"/>
          </a:xfrm>
          <a:prstGeom prst="rect">
            <a:avLst/>
          </a:prstGeom>
          <a:solidFill>
            <a:srgbClr val="1E3A1E"/>
          </a:solidFill>
          <a:ln w="12700">
            <a:solidFill>
              <a:srgbClr val="2A5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815584" y="390448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~235K t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5815584" y="4288536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CO₂e/yr at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64-hub scale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generation doubles the network. The pace of each doubling is set by how fast the next farm goes from shovel-in-ground to operational — a constraint we control and improve over time.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— 100-HA 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Profitable Model by Year 4</a:t>
            </a:r>
            <a:endParaRPr lang="en-US" sz="3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9184" y="109728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097280"/>
            <a:ext cx="157276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06440" y="1097280"/>
            <a:ext cx="1572768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79592" y="1188720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~$724K/yr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79592" y="1609344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credits (mature)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488936" y="1097280"/>
            <a:ext cx="157276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88936" y="1097280"/>
            <a:ext cx="1572768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62088" y="1188720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variable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562088" y="1609344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Biochar product sales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06440" y="2157984"/>
            <a:ext cx="1572768" cy="96012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06440" y="2157984"/>
            <a:ext cx="1572768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79592" y="2249424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$4M CAD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879592" y="267004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 needed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488936" y="2157984"/>
            <a:ext cx="1572768" cy="96012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488936" y="2157984"/>
            <a:ext cx="1572768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62088" y="2249424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3–4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562088" y="267004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horizon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806440" y="3218688"/>
            <a:ext cx="157276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06440" y="3218688"/>
            <a:ext cx="1572768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79592" y="3310128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&gt;30%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879592" y="373075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hub margin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488936" y="3218688"/>
            <a:ext cx="157276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488936" y="3218688"/>
            <a:ext cx="1572768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62088" y="3310128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$1.5–2.5M/yr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562088" y="373075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food benefit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29184" y="4434840"/>
            <a:ext cx="8485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are conservative. Biochar sales, grants, and ecosystem services add additional upside.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$4,000,000 CAD Seed Investment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9184" y="123444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1234440"/>
            <a:ext cx="4206240" cy="8229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325880"/>
            <a:ext cx="3877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$3.4M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93776" y="1993392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 #1 — Proof of Concept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" y="2450592"/>
            <a:ext cx="3877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100-hectare flagship hub through to profitability (Years 0–4). Land, infrastructure, operating costs, MRV, and carbon market onboarding.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" y="3063240"/>
            <a:ext cx="3877056" cy="1554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site build-out (CharHouse, kilns, irrigation)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Syntropic agroforestry installation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market registration (Puro.earth, Verra)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 baselining and ongoing monitoring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36592" y="123444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234440"/>
            <a:ext cx="4206240" cy="82296"/>
          </a:xfrm>
          <a:prstGeom prst="rect">
            <a:avLst/>
          </a:prstGeom>
          <a:solidFill>
            <a:srgbClr val="D4843E"/>
          </a:solidFill>
          <a:ln w="12700">
            <a:solidFill>
              <a:srgbClr val="D484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325880"/>
            <a:ext cx="3877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D484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$0.6M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901184" y="1993392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Druid Central — Launch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01184" y="2450592"/>
            <a:ext cx="3877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lean team (2–3 FTEs) to manage, document, and replicate.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01184" y="3063240"/>
            <a:ext cx="3877056" cy="1554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permitting (Hub #1)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Replication Toolkit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&amp; grant development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"Hub-in-a-Box" first partnership deal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9184" y="4818888"/>
            <a:ext cx="8485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as: Grant · Strategic Partner (turnkey + offtake) · Mission-Locked Equity · Hybrid / Non-Dilutive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5029200" y="274320"/>
            <a:ext cx="3931920" cy="3931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DRUID PROJECT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65760" y="438912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Saving the world doesn't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to be complicated —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just can't be exploitative.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365760" y="26060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building the first self-replicating carbon farm —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proof of concept for the world.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3429000"/>
            <a:ext cx="4389120" cy="1143000"/>
          </a:xfrm>
          <a:prstGeom prst="rect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35021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Robert McCarthy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386791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Modern Druid Project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C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robert.mccarthy.ca@member.mensa.org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73659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Source  ·  B-Corp Governed ·  Designed to Replicate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Modern Druid Project</dc:title>
  <dc:subject>PptxGenJS Presentation</dc:subject>
  <dc:creator>Robert McCarthy</dc:creator>
  <cp:lastModifiedBy>Robert McCarthy</cp:lastModifiedBy>
  <cp:revision>5</cp:revision>
  <dcterms:created xsi:type="dcterms:W3CDTF">2026-04-01T00:54:42Z</dcterms:created>
  <dcterms:modified xsi:type="dcterms:W3CDTF">2026-04-02T01:33:07Z</dcterms:modified>
</cp:coreProperties>
</file>